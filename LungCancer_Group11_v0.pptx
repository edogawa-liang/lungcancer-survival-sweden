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66" r:id="rId4"/>
    <p:sldId id="267" r:id="rId5"/>
    <p:sldId id="268" r:id="rId6"/>
    <p:sldId id="272" r:id="rId7"/>
    <p:sldId id="274" r:id="rId8"/>
    <p:sldId id="276" r:id="rId9"/>
    <p:sldId id="259" r:id="rId10"/>
    <p:sldId id="263" r:id="rId11"/>
    <p:sldId id="260" r:id="rId12"/>
    <p:sldId id="261" r:id="rId13"/>
    <p:sldId id="262" r:id="rId14"/>
    <p:sldId id="264" r:id="rId15"/>
    <p:sldId id="277" r:id="rId16"/>
  </p:sldIdLst>
  <p:sldSz cx="12192000" cy="6858000"/>
  <p:notesSz cx="6858000" cy="9144000"/>
  <p:defaultTextStyle>
    <a:defPPr>
      <a:defRPr lang="en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90A466-BBA7-4BE7-3442-E4FCED5C6C69}" v="174" dt="2025-12-17T21:17:35.383"/>
    <p1510:client id="{359CF1BC-D91E-8D4F-BBAE-FD92B38588D5}" v="2749" dt="2025-12-18T02:40:52.441"/>
    <p1510:client id="{604D5BB4-4E88-5996-2AE9-5026C876EB8D}" v="2" dt="2025-12-17T23:36:18.977"/>
    <p1510:client id="{F09CADC5-BE22-A51F-37E9-C7051EDAD2EC}" v="53" dt="2025-12-17T16:43:07.333"/>
    <p1510:client id="{FEE48F8A-808E-722F-C486-A3EBF04FFC35}" v="618" dt="2025-12-18T02:21:02.5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79005"/>
  </p:normalViewPr>
  <p:slideViewPr>
    <p:cSldViewPr snapToGrid="0" showGuides="1">
      <p:cViewPr>
        <p:scale>
          <a:sx n="96" d="100"/>
          <a:sy n="96" d="100"/>
        </p:scale>
        <p:origin x="1352" y="3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2C991D-2B4D-114D-AA0D-903040263628}" type="datetimeFigureOut">
              <a:rPr lang="en-TW" smtClean="0"/>
              <a:t>2025/12/17</a:t>
            </a:fld>
            <a:endParaRPr lang="en-TW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W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EAF65A-E888-0F4B-83E1-2968C8B7084E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245727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study focuses on lung cancer patients in Sweden and looks at factors related to how long patients survive.</a:t>
            </a:r>
          </a:p>
          <a:p>
            <a:endParaRPr lang="en-US" dirty="0"/>
          </a:p>
          <a:p>
            <a:r>
              <a:rPr lang="en-US" dirty="0"/>
              <a:t>Our main question is whether patients receiving different types of treatment have different survival experiences over time.</a:t>
            </a:r>
          </a:p>
          <a:p>
            <a:endParaRPr lang="en-US" dirty="0"/>
          </a:p>
          <a:p>
            <a:r>
              <a:rPr lang="en-US" dirty="0"/>
              <a:t>But not all patients experience the event during follow-up and some are still alive when the study ends, so we use survival analysis methods to properly handle this type of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EAF65A-E888-0F4B-83E1-2968C8B7084E}" type="slidenum">
              <a:rPr lang="en-TW" smtClean="0"/>
              <a:t>2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9305869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data comes from a lung cancer dataset from Kaggle.</a:t>
            </a:r>
          </a:p>
          <a:p>
            <a:endParaRPr lang="en-US" dirty="0"/>
          </a:p>
          <a:p>
            <a:r>
              <a:rPr lang="en-US" dirty="0"/>
              <a:t>We extract the patient from Sweden, and there are 33161 people in total. We further random sample 500 people for our dataset</a:t>
            </a:r>
          </a:p>
          <a:p>
            <a:endParaRPr lang="en-US" dirty="0"/>
          </a:p>
          <a:p>
            <a:r>
              <a:rPr lang="en-US" dirty="0"/>
              <a:t>And there are 386 patients died and 114 alive when the treatment 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EAF65A-E888-0F4B-83E1-2968C8B7084E}" type="slidenum">
              <a:rPr lang="en-TW" smtClean="0"/>
              <a:t>3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4020882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analysis, we count time in treatment days.</a:t>
            </a:r>
          </a:p>
          <a:p>
            <a:r>
              <a:rPr lang="en-US" dirty="0"/>
              <a:t>We follow each patient from the start of treatment to the end of the treatment, and see whether they die or not.</a:t>
            </a:r>
          </a:p>
          <a:p>
            <a:r>
              <a:rPr lang="en-US" dirty="0"/>
              <a:t>If a patient dies, we record that.</a:t>
            </a:r>
          </a:p>
          <a:p>
            <a:r>
              <a:rPr lang="en-US" dirty="0"/>
              <a:t>If the patient is still alive when the treatment ends, we simply stop following them at that point.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These are the other variables in the dataset. treatment is our main focus, but we also examine other factors that may be related to survival time.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EAF65A-E888-0F4B-83E1-2968C8B7084E}" type="slidenum">
              <a:rPr lang="en-TW" smtClean="0"/>
              <a:t>4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8367587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are the survival curves for our main variable of interest, which is treatment type. At the beginning, the treatments look quite similar.</a:t>
            </a:r>
          </a:p>
          <a:p>
            <a:r>
              <a:rPr lang="en-US" dirty="0"/>
              <a:t>Later on, combined treatment seems to perform a bit better.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EAF65A-E888-0F4B-83E1-2968C8B7084E}" type="slidenum">
              <a:rPr lang="en-TW" smtClean="0"/>
              <a:t>5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020129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Next, we look at a few variables that we think might also influence survival.</a:t>
            </a:r>
          </a:p>
          <a:p>
            <a:endParaRPr lang="en-US" dirty="0"/>
          </a:p>
          <a:p>
            <a:r>
              <a:rPr lang="en-US" b="0" dirty="0"/>
              <a:t>For smoking status, the survival curves are pretty close, so we don’t see a clear difference in survival.</a:t>
            </a:r>
          </a:p>
          <a:p>
            <a:r>
              <a:rPr lang="en-US" b="0" dirty="0"/>
              <a:t>For age, we divided patients into four groups based on percentiles. Patients younger than 49 tend to survive longer, but for the older groups, the curves overlap a lot and don’t separate clearly.</a:t>
            </a:r>
          </a:p>
          <a:p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EAF65A-E888-0F4B-83E1-2968C8B7084E}" type="slidenum">
              <a:rPr lang="en-TW" smtClean="0"/>
              <a:t>6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1589673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cancer stage, we see clear survival differences, with earlier stages showing higher survival, which really makes sense</a:t>
            </a:r>
          </a:p>
          <a:p>
            <a:endParaRPr lang="en-US" dirty="0"/>
          </a:p>
          <a:p>
            <a:r>
              <a:rPr lang="en-US" dirty="0"/>
              <a:t>For hypertension, the survival curves cross over time. Patients with hypertension appear to have lower survival early on, but higher survival later, which is somewhat unexpected.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EAF65A-E888-0F4B-83E1-2968C8B7084E}" type="slidenum">
              <a:rPr lang="en-TW" smtClean="0"/>
              <a:t>7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3711064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we look at how treatment is related to other patient characteristics.</a:t>
            </a:r>
          </a:p>
          <a:p>
            <a:endParaRPr lang="en-US" dirty="0"/>
          </a:p>
          <a:p>
            <a:r>
              <a:rPr lang="en-US" dirty="0"/>
              <a:t>We can see that patients at different cancer stages tend to receive different types of treatment.</a:t>
            </a:r>
          </a:p>
          <a:p>
            <a:r>
              <a:rPr lang="en-US" dirty="0"/>
              <a:t>We also see that older patients are more likely to receive chemotherapy.</a:t>
            </a:r>
          </a:p>
          <a:p>
            <a:r>
              <a:rPr lang="en-US" dirty="0"/>
              <a:t>This tells us that when we talk about the effect of treatment on survival, we cannot look at treatment alone.</a:t>
            </a:r>
          </a:p>
          <a:p>
            <a:r>
              <a:rPr lang="en-US" dirty="0"/>
              <a:t>For example, patients with more advanced cancer, such as stage III, often receive specific treatments and also tend to die easily</a:t>
            </a:r>
          </a:p>
          <a:p>
            <a:r>
              <a:rPr lang="en-US" dirty="0"/>
              <a:t>So if a treatment seems to be associated with lower survival, it may be because the patients receiving that treatment are more severe to begin with, not because the treatment itself is worse.</a:t>
            </a:r>
          </a:p>
          <a:p>
            <a:endParaRPr lang="en-US" dirty="0"/>
          </a:p>
          <a:p>
            <a:r>
              <a:rPr lang="en-US" dirty="0"/>
              <a:t>So later we will consider treatment together with other patient characteristics at the same time when analyzing survival.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EAF65A-E888-0F4B-83E1-2968C8B7084E}" type="slidenum">
              <a:rPr lang="en-TW" smtClean="0"/>
              <a:t>8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694639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EAF65A-E888-0F4B-83E1-2968C8B7084E}" type="slidenum">
              <a:rPr lang="en-TW" smtClean="0"/>
              <a:t>9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870035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EAF65A-E888-0F4B-83E1-2968C8B7084E}" type="slidenum">
              <a:rPr lang="en-TW" smtClean="0"/>
              <a:t>11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378495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61C67-AC91-ADBB-2F1B-C28A92017C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6EF7CA-7EEF-62B7-4499-5A082B2316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D6553D-92AC-F8CC-ECA8-CCB4193C4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CAA23-FA31-4E47-98F4-4D9097B8CD99}" type="datetime1">
              <a:rPr lang="en-US" smtClean="0"/>
              <a:t>12/18/25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C6B2C-A0B1-C211-9665-9FE2B2312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54972-3B1E-EA45-00FB-08D89CAA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7E0-9398-4F46-BF66-1EA1B4374B88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768692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1FDAC-7DA4-66A7-D052-1C74968A1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3E08F-B10E-CC12-ED47-967528AC5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EBCB7-0FC4-A7B2-C023-8E7C8A115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A5024-BEB3-1B4B-9A0A-D2797F6FF3DC}" type="datetime1">
              <a:rPr lang="en-US" smtClean="0"/>
              <a:t>12/18/25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B0FA2-9F10-67EF-1ED1-494C7C2BF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5627D-5677-C88A-7A52-8020104C6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/>
            </a:lvl1pPr>
          </a:lstStyle>
          <a:p>
            <a:fld id="{C79357E0-9398-4F46-BF66-1EA1B4374B88}" type="slidenum">
              <a:rPr lang="en-TW" smtClean="0"/>
              <a:pPr/>
              <a:t>‹#›</a:t>
            </a:fld>
            <a:endParaRPr lang="en-TW" dirty="0"/>
          </a:p>
        </p:txBody>
      </p:sp>
    </p:spTree>
    <p:extLst>
      <p:ext uri="{BB962C8B-B14F-4D97-AF65-F5344CB8AC3E}">
        <p14:creationId xmlns:p14="http://schemas.microsoft.com/office/powerpoint/2010/main" val="4232543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F54A6-8BC6-DD87-726E-5FF3AEA7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E03617-CE76-3479-B55E-F133B16B00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4B6DC-27D2-4C1E-7928-F7A06F290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28A82-BFE6-3243-BEE2-24F77FD889F8}" type="datetime1">
              <a:rPr lang="en-US" smtClean="0"/>
              <a:t>12/18/25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9E1BC-0C85-E4D4-6691-2C944A6BC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CFB5B-0636-8C69-9F92-F1E2A88CF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7E0-9398-4F46-BF66-1EA1B4374B88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827944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53C96-B384-B791-3A3C-169D80838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57E30-9E1D-0DC1-CBCD-85D1E81B9C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5300A8-E365-149F-E032-DDB642AD91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978398-4C67-4CFC-9092-B2213579A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9A685-683F-FA40-BB0B-813AFAD207D0}" type="datetime1">
              <a:rPr lang="en-US" smtClean="0"/>
              <a:t>12/18/25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9AE5A5-E3E8-A68A-1EF9-B7693D57B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739174-1219-B8D8-128F-CA3D6F229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7E0-9398-4F46-BF66-1EA1B4374B88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72190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B786D-DB50-3CCF-46FD-3A482AC3A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CA9E08-3591-1119-3A87-111527FB2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254EE4-4AF7-7C70-238C-AE30ECAFFD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EA6EE1-F2BE-9E84-A110-9F4DF66074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6558C9-4F09-BF36-5168-7025A76575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C50717-9795-0D8A-A8DF-64BC60EE0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0C19D-8845-A848-8F65-05F47A79D28B}" type="datetime1">
              <a:rPr lang="en-US" smtClean="0"/>
              <a:t>12/18/25</a:t>
            </a:fld>
            <a:endParaRPr lang="en-T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D9FC07-C410-93DB-0916-82F093A9D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EE94F6-A559-19C2-680C-46ACA249F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7E0-9398-4F46-BF66-1EA1B4374B88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91353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F0471-C885-D157-8803-6FF7C930F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3F843F-7624-FB22-9228-6156D3F2B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E166-FE24-244B-A563-24C98B28F647}" type="datetime1">
              <a:rPr lang="en-US" smtClean="0"/>
              <a:t>12/18/25</a:t>
            </a:fld>
            <a:endParaRPr lang="en-T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ECD5DF-AB53-D3B9-57A3-F0575DC9E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1FA495-8AD0-C83C-B62A-07B3CB699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7E0-9398-4F46-BF66-1EA1B4374B88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473825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6F5349-1AE5-9C53-B644-1950CF4B3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55FC9-DAB2-3D4B-B1C3-76430B706C1C}" type="datetime1">
              <a:rPr lang="en-US" smtClean="0"/>
              <a:t>12/18/25</a:t>
            </a:fld>
            <a:endParaRPr lang="en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72FA1C-5519-0908-9F40-4243C546B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59FA95-57A6-40B6-2205-8C401D5E3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7E0-9398-4F46-BF66-1EA1B4374B88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525504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28401-D34F-F0EE-9495-7F97F557F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8520F-92FE-65A3-7107-F006486E9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C4D767-0858-891D-8E5D-3648969E09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6E32F-FE60-ADE3-8D94-DCC6147F5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DCF62-9FA4-D14D-9611-0106FB5AA700}" type="datetime1">
              <a:rPr lang="en-US" smtClean="0"/>
              <a:t>12/18/25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4D76EC-7D01-78ED-D157-07713752A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A153D3-DC12-076A-5EC1-377CADD14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7E0-9398-4F46-BF66-1EA1B4374B88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405888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362C4-9ADB-99F2-FC0B-8ED3F8973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D99028-6918-34BC-386D-80DA58F83F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62813E-CE14-CF9F-131E-1C619E1847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15E47D-A179-6889-3B3E-41B672D9D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E20F1-3BF1-C946-A150-AA7D1E9E2C24}" type="datetime1">
              <a:rPr lang="en-US" smtClean="0"/>
              <a:t>12/18/25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9A665-B834-9F04-3AB4-74C01B622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E7B6A4-59AB-5818-EED5-DD90CC295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7E0-9398-4F46-BF66-1EA1B4374B88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325765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2BE5E-4245-8063-97BC-9203F130A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999F2E-852F-D9F9-1ADD-96E7CA7863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74FFEC-2AAC-BABB-2D9A-06902200E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516AF-4A56-F242-9D9B-DBF592223980}" type="datetime1">
              <a:rPr lang="en-US" smtClean="0"/>
              <a:t>12/18/25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3F5CBF-AEC2-BAF3-9DE6-5FBDC929F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5BD3D-31EE-594C-58D5-3E51C03DB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7E0-9398-4F46-BF66-1EA1B4374B88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238047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466E99-AE29-9E62-5B01-CFDFB5431B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C21FA5-E49B-AACC-349A-9006723336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9BD5B-3C63-49FB-6D9F-BE7D09752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29D4F-EB6D-F34B-9E22-DA0DE82EC6B3}" type="datetime1">
              <a:rPr lang="en-US" smtClean="0"/>
              <a:t>12/18/25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96E53-FD2F-95D6-970B-2C6D16063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43C22-31C0-522D-CB04-050CECF81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7E0-9398-4F46-BF66-1EA1B4374B88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108840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E48427-BC8E-0958-B544-0EC94FB90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42EA20-1163-3185-B0D0-AE5851B1C0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E0FDF-9B3B-5FB0-B08B-FAC08C3D74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D2CD3D-2680-4B46-ADC6-B0AF8598C53C}" type="datetime1">
              <a:rPr lang="en-US" smtClean="0"/>
              <a:t>12/18/25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C4CE8-D05D-9BE0-F25F-38D7B75A4E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3DA1F-EC8F-3D75-08BC-83F15E877F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357E0-9398-4F46-BF66-1EA1B4374B88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101254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C0A1ED06-4733-4020-9C60-81D4D8014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0CA3509-3AF9-45FE-93ED-57BB5D5E8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7388" y="181576"/>
            <a:ext cx="11823637" cy="65010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What Is Lung Cancer? Symptoms and Treatment | Anadolu Sağlık Merkezi">
            <a:extLst>
              <a:ext uri="{FF2B5EF4-FFF2-40B4-BE49-F238E27FC236}">
                <a16:creationId xmlns:a16="http://schemas.microsoft.com/office/drawing/2014/main" id="{F98975B6-116B-188B-B6B7-AC4B602977A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5789" b="1855"/>
          <a:stretch>
            <a:fillRect/>
          </a:stretch>
        </p:blipFill>
        <p:spPr>
          <a:xfrm>
            <a:off x="180975" y="182880"/>
            <a:ext cx="11823637" cy="649978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7BDC0A2-4A84-D15A-959E-37FCE2001067}"/>
              </a:ext>
            </a:extLst>
          </p:cNvPr>
          <p:cNvSpPr/>
          <p:nvPr/>
        </p:nvSpPr>
        <p:spPr>
          <a:xfrm>
            <a:off x="187387" y="182880"/>
            <a:ext cx="11823637" cy="6507328"/>
          </a:xfrm>
          <a:prstGeom prst="rect">
            <a:avLst/>
          </a:prstGeom>
          <a:solidFill>
            <a:schemeClr val="tx1">
              <a:alpha val="24523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ED1527B-51CF-CD45-8E0C-FB86D8E67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818" y="3434650"/>
            <a:ext cx="10165218" cy="280650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4000" b="1" dirty="0">
                <a:solidFill>
                  <a:schemeClr val="bg1"/>
                </a:solidFill>
                <a:latin typeface="+mn-lt"/>
              </a:rPr>
              <a:t>Survival Analysis of Lung Cancer Patients in Sweden</a:t>
            </a:r>
            <a:br>
              <a:rPr lang="en-US" sz="4000" dirty="0">
                <a:solidFill>
                  <a:srgbClr val="FFFFFF"/>
                </a:solidFill>
                <a:ea typeface="Calibri Light"/>
                <a:cs typeface="Calibri Light"/>
              </a:rPr>
            </a:br>
            <a:br>
              <a:rPr lang="en-US" sz="4000" dirty="0">
                <a:solidFill>
                  <a:srgbClr val="FFFFFF"/>
                </a:solidFill>
                <a:ea typeface="Calibri Light"/>
                <a:cs typeface="Calibri Light"/>
              </a:rPr>
            </a:br>
            <a:r>
              <a:rPr lang="en-US" sz="2400" dirty="0">
                <a:solidFill>
                  <a:srgbClr val="FFFFFF"/>
                </a:solidFill>
                <a:latin typeface="+mn-lt"/>
                <a:ea typeface="Calibri Light"/>
                <a:cs typeface="Calibri Light"/>
              </a:rPr>
              <a:t>Group 11: </a:t>
            </a:r>
            <a:r>
              <a:rPr lang="en-US" sz="2400" dirty="0">
                <a:solidFill>
                  <a:schemeClr val="bg1"/>
                </a:solidFill>
                <a:latin typeface="+mn-lt"/>
              </a:rPr>
              <a:t>Liang-Jen Huang, Hadeel Elhassan</a:t>
            </a:r>
            <a:br>
              <a:rPr lang="en-US" sz="2400" dirty="0">
                <a:solidFill>
                  <a:schemeClr val="bg1"/>
                </a:solidFill>
                <a:latin typeface="+mn-lt"/>
              </a:rPr>
            </a:br>
            <a:r>
              <a:rPr lang="en-US" sz="2400" dirty="0">
                <a:solidFill>
                  <a:schemeClr val="bg1"/>
                </a:solidFill>
                <a:latin typeface="+mn-lt"/>
              </a:rPr>
              <a:t>Department of Statistics, Uppsala University</a:t>
            </a:r>
            <a:br>
              <a:rPr lang="en-TW" sz="2000" dirty="0">
                <a:solidFill>
                  <a:schemeClr val="bg1"/>
                </a:solidFill>
              </a:rPr>
            </a:b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873B8C-EB8E-A62F-37A9-86F7FEE8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7E0-9398-4F46-BF66-1EA1B4374B88}" type="slidenum">
              <a:rPr lang="en-TW" smtClean="0"/>
              <a:t>1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718722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1CEB1-5F43-7C8D-5DDC-9247F22E6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E2724-ECC2-2434-36CA-1242B49D3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1600"/>
              </a:spcBef>
            </a:pPr>
            <a:r>
              <a:rPr lang="en-US" dirty="0"/>
              <a:t>Focus on lung cancer patients in Sweden and investigate factors associated with survival time.</a:t>
            </a:r>
          </a:p>
          <a:p>
            <a:pPr>
              <a:spcBef>
                <a:spcPts val="1600"/>
              </a:spcBef>
            </a:pPr>
            <a:r>
              <a:rPr lang="en-US" dirty="0"/>
              <a:t>Main interest: whether different treatment types are associated with different survival experiences over time.</a:t>
            </a:r>
          </a:p>
          <a:p>
            <a:pPr>
              <a:spcBef>
                <a:spcPts val="1600"/>
              </a:spcBef>
            </a:pPr>
            <a:r>
              <a:rPr lang="en-US" dirty="0"/>
              <a:t>Not all patients experience the event during follow-up, so survival analysis methods are required.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60E5DB-2D86-8EA1-7EEC-020AECFF1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7E0-9398-4F46-BF66-1EA1B4374B88}" type="slidenum">
              <a:rPr lang="en-TW" smtClean="0"/>
              <a:t>2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90741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1CEB1-5F43-7C8D-5DDC-9247F22E6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Data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E2724-ECC2-2434-36CA-1242B49D3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random sample of 500 lung cancer patients from Sweden was selected from the Kaggle Lung Cancer Dataset (33,161 patients in total).</a:t>
            </a:r>
          </a:p>
          <a:p>
            <a:r>
              <a:rPr lang="en-US" dirty="0"/>
              <a:t>During treatment, 386 patients died, while 114 were still alive when the observation period ended.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C2A8C5-E1A7-DF5A-4247-55C1EAAE7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7E0-9398-4F46-BF66-1EA1B4374B88}" type="slidenum">
              <a:rPr lang="en-TW" smtClean="0"/>
              <a:t>3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992864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1CEB1-5F43-7C8D-5DDC-9247F22E6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Data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E2724-ECC2-2434-36CA-1242B49D3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000" y="2504814"/>
            <a:ext cx="3900664" cy="2010167"/>
          </a:xfrm>
        </p:spPr>
        <p:txBody>
          <a:bodyPr>
            <a:noAutofit/>
          </a:bodyPr>
          <a:lstStyle/>
          <a:p>
            <a:pPr marL="0" lvl="1" indent="0">
              <a:spcBef>
                <a:spcPts val="1800"/>
              </a:spcBef>
              <a:buNone/>
            </a:pPr>
            <a:r>
              <a:rPr lang="en-US" dirty="0"/>
              <a:t>Survival (Death / Alive)</a:t>
            </a:r>
          </a:p>
          <a:p>
            <a:pPr marL="0" lvl="1" indent="0">
              <a:spcBef>
                <a:spcPts val="1800"/>
              </a:spcBef>
              <a:buNone/>
            </a:pPr>
            <a:endParaRPr lang="en-US" dirty="0"/>
          </a:p>
          <a:p>
            <a:pPr marL="0" lvl="1" indent="0">
              <a:spcBef>
                <a:spcPts val="1800"/>
              </a:spcBef>
              <a:buNone/>
            </a:pPr>
            <a:r>
              <a:rPr lang="en-US" dirty="0"/>
              <a:t>Treatment Days</a:t>
            </a:r>
            <a:endParaRPr lang="en-TW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F83F75F-25B4-F674-2A05-A160AF365371}"/>
              </a:ext>
            </a:extLst>
          </p:cNvPr>
          <p:cNvSpPr txBox="1">
            <a:spLocks/>
          </p:cNvSpPr>
          <p:nvPr/>
        </p:nvSpPr>
        <p:spPr>
          <a:xfrm>
            <a:off x="5343909" y="973125"/>
            <a:ext cx="6285553" cy="56679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Age</a:t>
            </a:r>
          </a:p>
          <a:p>
            <a:pPr marL="0" indent="0">
              <a:buNone/>
            </a:pPr>
            <a:r>
              <a:rPr lang="en-US" sz="2400" dirty="0"/>
              <a:t>Gender 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(Female/Male)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BMI</a:t>
            </a:r>
          </a:p>
          <a:p>
            <a:pPr marL="0" indent="0">
              <a:buNone/>
            </a:pPr>
            <a:r>
              <a:rPr lang="en-US" sz="2400" dirty="0"/>
              <a:t>Cholesterol level</a:t>
            </a:r>
          </a:p>
          <a:p>
            <a:pPr marL="0" indent="0">
              <a:buNone/>
            </a:pPr>
            <a:r>
              <a:rPr lang="en-US" sz="2400" dirty="0"/>
              <a:t>Treatment 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(radiation / Chemotherapy / Surgery / Combined)</a:t>
            </a:r>
          </a:p>
          <a:p>
            <a:pPr marL="0" indent="0">
              <a:buNone/>
            </a:pPr>
            <a:r>
              <a:rPr lang="en-US" sz="2400" dirty="0"/>
              <a:t>Cancer stage 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(I - IV)</a:t>
            </a:r>
          </a:p>
          <a:p>
            <a:pPr marL="0" indent="0">
              <a:buNone/>
            </a:pPr>
            <a:r>
              <a:rPr lang="en-US" sz="2400" dirty="0"/>
              <a:t>Smoking status 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(Never / Passive / Former / Current)</a:t>
            </a:r>
          </a:p>
          <a:p>
            <a:pPr marL="0" indent="0">
              <a:buNone/>
            </a:pPr>
            <a:r>
              <a:rPr lang="en-US" sz="2400" dirty="0"/>
              <a:t>Hypertension 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(No / Yes)</a:t>
            </a:r>
          </a:p>
          <a:p>
            <a:pPr marL="0" indent="0">
              <a:buNone/>
            </a:pPr>
            <a:r>
              <a:rPr lang="en-US" sz="2400" dirty="0"/>
              <a:t>Asthma 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(No / Yes)</a:t>
            </a:r>
          </a:p>
          <a:p>
            <a:pPr marL="0" indent="0">
              <a:buNone/>
            </a:pPr>
            <a:r>
              <a:rPr lang="en-US" sz="2400" dirty="0"/>
              <a:t>Cirrhosis 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(No / Yes)</a:t>
            </a:r>
          </a:p>
          <a:p>
            <a:pPr marL="0" indent="0">
              <a:buNone/>
            </a:pPr>
            <a:r>
              <a:rPr lang="en-US" sz="2400" dirty="0"/>
              <a:t>Other cancer 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(No / Yes)</a:t>
            </a:r>
          </a:p>
          <a:p>
            <a:pPr marL="0" indent="0">
              <a:buNone/>
            </a:pPr>
            <a:r>
              <a:rPr lang="en-US" sz="2400" dirty="0"/>
              <a:t>Family history of cancer 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(No / Yes)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8E460F-C8E2-D00D-CCAC-F732BB7BEF14}"/>
              </a:ext>
            </a:extLst>
          </p:cNvPr>
          <p:cNvSpPr txBox="1"/>
          <p:nvPr/>
        </p:nvSpPr>
        <p:spPr>
          <a:xfrm>
            <a:off x="-2421118" y="2135482"/>
            <a:ext cx="705514" cy="369332"/>
          </a:xfrm>
          <a:prstGeom prst="rect">
            <a:avLst/>
          </a:prstGeom>
          <a:solidFill>
            <a:srgbClr val="FFF2CC">
              <a:alpha val="90980"/>
            </a:srgbClr>
          </a:solidFill>
        </p:spPr>
        <p:txBody>
          <a:bodyPr wrap="none" rtlCol="0">
            <a:spAutoFit/>
          </a:bodyPr>
          <a:lstStyle/>
          <a:p>
            <a:r>
              <a:rPr lang="en-TW" dirty="0"/>
              <a:t>Event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A7A930-4BA4-38F9-5930-9959CA23ACE9}"/>
              </a:ext>
            </a:extLst>
          </p:cNvPr>
          <p:cNvSpPr txBox="1"/>
          <p:nvPr/>
        </p:nvSpPr>
        <p:spPr>
          <a:xfrm>
            <a:off x="-1638597" y="2135482"/>
            <a:ext cx="1071319" cy="369332"/>
          </a:xfrm>
          <a:prstGeom prst="rect">
            <a:avLst/>
          </a:prstGeom>
          <a:solidFill>
            <a:srgbClr val="FFF2CC">
              <a:alpha val="90980"/>
            </a:srgbClr>
          </a:solidFill>
        </p:spPr>
        <p:txBody>
          <a:bodyPr wrap="none" rtlCol="0">
            <a:spAutoFit/>
          </a:bodyPr>
          <a:lstStyle/>
          <a:p>
            <a:r>
              <a:rPr lang="en-TW" dirty="0"/>
              <a:t>Censored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BB364A-E4D8-F50A-880E-CCB575053F76}"/>
              </a:ext>
            </a:extLst>
          </p:cNvPr>
          <p:cNvSpPr txBox="1"/>
          <p:nvPr/>
        </p:nvSpPr>
        <p:spPr>
          <a:xfrm>
            <a:off x="-1248839" y="3660530"/>
            <a:ext cx="649537" cy="369332"/>
          </a:xfrm>
          <a:prstGeom prst="rect">
            <a:avLst/>
          </a:prstGeom>
          <a:solidFill>
            <a:srgbClr val="FFF2CC">
              <a:alpha val="90980"/>
            </a:srgbClr>
          </a:solidFill>
        </p:spPr>
        <p:txBody>
          <a:bodyPr wrap="none" rtlCol="0">
            <a:spAutoFit/>
          </a:bodyPr>
          <a:lstStyle/>
          <a:p>
            <a:r>
              <a:rPr lang="en-TW" dirty="0"/>
              <a:t>Time</a:t>
            </a: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8CE002BD-198B-0EF4-8820-DDE9F9FE4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7E0-9398-4F46-BF66-1EA1B4374B88}" type="slidenum">
              <a:rPr lang="en-TW" smtClean="0"/>
              <a:t>4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862187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1CEB1-5F43-7C8D-5DDC-9247F22E6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Survival Curves by Treatment Type</a:t>
            </a:r>
          </a:p>
        </p:txBody>
      </p:sp>
      <p:pic>
        <p:nvPicPr>
          <p:cNvPr id="9" name="Content Placeholder 8" descr="A graph showing the results of a product&#10;&#10;Description automatically generated">
            <a:extLst>
              <a:ext uri="{FF2B5EF4-FFF2-40B4-BE49-F238E27FC236}">
                <a16:creationId xmlns:a16="http://schemas.microsoft.com/office/drawing/2014/main" id="{3A32319C-DB8F-25C9-3E64-B0B53CCC3E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558891" y="1825625"/>
            <a:ext cx="5753175" cy="4320000"/>
          </a:xfr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676A161-A4D6-1432-DA42-24097DDF1937}"/>
              </a:ext>
            </a:extLst>
          </p:cNvPr>
          <p:cNvSpPr txBox="1">
            <a:spLocks/>
          </p:cNvSpPr>
          <p:nvPr/>
        </p:nvSpPr>
        <p:spPr>
          <a:xfrm>
            <a:off x="838199" y="1825625"/>
            <a:ext cx="4532587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No clear treatment differences are observed early in time.</a:t>
            </a:r>
          </a:p>
          <a:p>
            <a:pPr>
              <a:spcBef>
                <a:spcPts val="1600"/>
              </a:spcBef>
            </a:pPr>
            <a:r>
              <a:rPr lang="en-US" dirty="0">
                <a:solidFill>
                  <a:srgbClr val="C00000"/>
                </a:solidFill>
              </a:rPr>
              <a:t>Combined treatment </a:t>
            </a:r>
            <a:r>
              <a:rPr lang="en-US" dirty="0"/>
              <a:t>shows higher survival at later times.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2D54AE1-8921-5781-C49E-278CE7F9C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7E0-9398-4F46-BF66-1EA1B4374B88}" type="slidenum">
              <a:rPr lang="en-TW" smtClean="0"/>
              <a:t>5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884368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1CEB1-5F43-7C8D-5DDC-9247F22E6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Survival Curves by Patient Characteristics</a:t>
            </a:r>
          </a:p>
        </p:txBody>
      </p:sp>
      <p:pic>
        <p:nvPicPr>
          <p:cNvPr id="18" name="Picture 17" descr="A graph showing the amount of smoke in a product&#10;&#10;Description automatically generated with medium confidence">
            <a:extLst>
              <a:ext uri="{FF2B5EF4-FFF2-40B4-BE49-F238E27FC236}">
                <a16:creationId xmlns:a16="http://schemas.microsoft.com/office/drawing/2014/main" id="{93360FCD-FD52-245B-25B1-0B99C5E34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012" y="1703826"/>
            <a:ext cx="5762988" cy="4320000"/>
          </a:xfrm>
          <a:prstGeom prst="rect">
            <a:avLst/>
          </a:prstGeom>
        </p:spPr>
      </p:pic>
      <p:pic>
        <p:nvPicPr>
          <p:cNvPr id="21" name="Picture 20" descr="A graph of a survival curve&#10;&#10;Description automatically generated with medium confidence">
            <a:extLst>
              <a:ext uri="{FF2B5EF4-FFF2-40B4-BE49-F238E27FC236}">
                <a16:creationId xmlns:a16="http://schemas.microsoft.com/office/drawing/2014/main" id="{610EF4DB-8ED8-C1BA-E334-BCA1BC5F26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8988" y="1690688"/>
            <a:ext cx="5760000" cy="4320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62D99EC-7262-6872-D4B6-D92AFDE70765}"/>
              </a:ext>
            </a:extLst>
          </p:cNvPr>
          <p:cNvSpPr txBox="1"/>
          <p:nvPr/>
        </p:nvSpPr>
        <p:spPr>
          <a:xfrm>
            <a:off x="1037756" y="6123543"/>
            <a:ext cx="4353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Smoking status</a:t>
            </a:r>
            <a:r>
              <a:rPr lang="en-US" dirty="0"/>
              <a:t>: No clear survival differences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DC4A8E-0026-98EA-341C-818A9328FFBB}"/>
              </a:ext>
            </a:extLst>
          </p:cNvPr>
          <p:cNvSpPr txBox="1"/>
          <p:nvPr/>
        </p:nvSpPr>
        <p:spPr>
          <a:xfrm>
            <a:off x="6924393" y="6123543"/>
            <a:ext cx="4807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Age</a:t>
            </a:r>
            <a:r>
              <a:rPr lang="en-US" dirty="0"/>
              <a:t>: Younger patients (&lt;49) show higher survival.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02FA824F-DE7E-3874-3C3A-BC06C7B51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7E0-9398-4F46-BF66-1EA1B4374B88}" type="slidenum">
              <a:rPr lang="en-TW" smtClean="0"/>
              <a:t>6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366420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1CEB1-5F43-7C8D-5DDC-9247F22E6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Survival Curves by Patient Characteristics</a:t>
            </a:r>
          </a:p>
        </p:txBody>
      </p:sp>
      <p:pic>
        <p:nvPicPr>
          <p:cNvPr id="13" name="Content Placeholder 5" descr="A graph showing a number of patients with a number of patients with a number of patients with a number of patients with a number of patients with a number of patients with a number of patients with a&#10;&#10;Description automatically generated">
            <a:extLst>
              <a:ext uri="{FF2B5EF4-FFF2-40B4-BE49-F238E27FC236}">
                <a16:creationId xmlns:a16="http://schemas.microsoft.com/office/drawing/2014/main" id="{BAE3E66E-1ADC-3654-8ED7-8BA5DD75ED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106213" y="1690688"/>
            <a:ext cx="5749787" cy="4320000"/>
          </a:xfrm>
        </p:spPr>
      </p:pic>
      <p:pic>
        <p:nvPicPr>
          <p:cNvPr id="17" name="Picture 16" descr="A graph showing the results of a product&#10;&#10;Description automatically generated">
            <a:extLst>
              <a:ext uri="{FF2B5EF4-FFF2-40B4-BE49-F238E27FC236}">
                <a16:creationId xmlns:a16="http://schemas.microsoft.com/office/drawing/2014/main" id="{CD696998-6E7A-C3F0-056E-1376B81C4D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660" y="1690688"/>
            <a:ext cx="5727340" cy="4320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5C0BCEE-503C-5B17-4ECA-7E5686D44CEA}"/>
              </a:ext>
            </a:extLst>
          </p:cNvPr>
          <p:cNvSpPr txBox="1"/>
          <p:nvPr/>
        </p:nvSpPr>
        <p:spPr>
          <a:xfrm>
            <a:off x="1037756" y="6123543"/>
            <a:ext cx="3851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Cancer stage</a:t>
            </a:r>
            <a:r>
              <a:rPr lang="en-US" dirty="0"/>
              <a:t>: Clear survival differences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A6235D-C8C8-6506-D79C-ECC36524FB72}"/>
              </a:ext>
            </a:extLst>
          </p:cNvPr>
          <p:cNvSpPr txBox="1"/>
          <p:nvPr/>
        </p:nvSpPr>
        <p:spPr>
          <a:xfrm>
            <a:off x="6924393" y="6123543"/>
            <a:ext cx="4356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Hypertension</a:t>
            </a:r>
            <a:r>
              <a:rPr lang="en-US" dirty="0"/>
              <a:t>: Survival rates cross over time</a:t>
            </a:r>
          </a:p>
          <a:p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9C1B550A-FCA0-F57A-C763-8D0662830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7E0-9398-4F46-BF66-1EA1B4374B88}" type="slidenum">
              <a:rPr lang="en-TW" smtClean="0"/>
              <a:t>7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946805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1CEB1-5F43-7C8D-5DDC-9247F22E6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Descriptive Analysis of Patient Characteristics</a:t>
            </a:r>
          </a:p>
        </p:txBody>
      </p:sp>
      <p:pic>
        <p:nvPicPr>
          <p:cNvPr id="6" name="Content Placeholder 5" descr="A diagram of different colored squares&#10;&#10;Description automatically generated">
            <a:extLst>
              <a:ext uri="{FF2B5EF4-FFF2-40B4-BE49-F238E27FC236}">
                <a16:creationId xmlns:a16="http://schemas.microsoft.com/office/drawing/2014/main" id="{534CD7C9-01E6-3EA7-BB44-BD90733225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15075" y="1690688"/>
            <a:ext cx="5221194" cy="3895725"/>
          </a:xfrm>
        </p:spPr>
      </p:pic>
      <p:pic>
        <p:nvPicPr>
          <p:cNvPr id="8" name="Picture 7" descr="A screenshot of a chart&#10;&#10;Description automatically generated">
            <a:extLst>
              <a:ext uri="{FF2B5EF4-FFF2-40B4-BE49-F238E27FC236}">
                <a16:creationId xmlns:a16="http://schemas.microsoft.com/office/drawing/2014/main" id="{ECBC97E5-70FB-CB53-9A89-CF62AD4297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965" y="1690688"/>
            <a:ext cx="5013729" cy="38957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CA88351-437F-7BAB-317B-0DFA44B5D598}"/>
              </a:ext>
            </a:extLst>
          </p:cNvPr>
          <p:cNvSpPr txBox="1"/>
          <p:nvPr/>
        </p:nvSpPr>
        <p:spPr>
          <a:xfrm>
            <a:off x="1005837" y="5769828"/>
            <a:ext cx="106184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Treatment groups differ in patient characteristics, so patient characteristics must be considered together when analyzing survival.</a:t>
            </a:r>
            <a:endParaRPr lang="en-TW" sz="22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E18A762-3D73-C741-71E1-793DE0E17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7E0-9398-4F46-BF66-1EA1B4374B88}" type="slidenum">
              <a:rPr lang="en-TW" smtClean="0"/>
              <a:t>8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932572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E30C2-1DBA-9541-7D8E-D5FEA14CA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Analysis Result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038E660-D7E2-638F-FE2A-FB1906391D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1568974"/>
              </p:ext>
            </p:extLst>
          </p:nvPr>
        </p:nvGraphicFramePr>
        <p:xfrm>
          <a:off x="2562224" y="3008313"/>
          <a:ext cx="7067551" cy="29829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52738">
                  <a:extLst>
                    <a:ext uri="{9D8B030D-6E8A-4147-A177-3AD203B41FA5}">
                      <a16:colId xmlns:a16="http://schemas.microsoft.com/office/drawing/2014/main" val="3840312620"/>
                    </a:ext>
                  </a:extLst>
                </a:gridCol>
                <a:gridCol w="1128713">
                  <a:extLst>
                    <a:ext uri="{9D8B030D-6E8A-4147-A177-3AD203B41FA5}">
                      <a16:colId xmlns:a16="http://schemas.microsoft.com/office/drawing/2014/main" val="817744422"/>
                    </a:ext>
                  </a:extLst>
                </a:gridCol>
                <a:gridCol w="3086100">
                  <a:extLst>
                    <a:ext uri="{9D8B030D-6E8A-4147-A177-3AD203B41FA5}">
                      <a16:colId xmlns:a16="http://schemas.microsoft.com/office/drawing/2014/main" val="3354180011"/>
                    </a:ext>
                  </a:extLst>
                </a:gridCol>
              </a:tblGrid>
              <a:tr h="447358">
                <a:tc>
                  <a:txBody>
                    <a:bodyPr/>
                    <a:lstStyle/>
                    <a:p>
                      <a:r>
                        <a:rPr lang="en-TW" b="1" dirty="0">
                          <a:solidFill>
                            <a:schemeClr val="tx1"/>
                          </a:solidFill>
                        </a:rPr>
                        <a:t>Parameter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P</a:t>
                      </a:r>
                      <a:r>
                        <a:rPr lang="en-TW" b="1" dirty="0">
                          <a:solidFill>
                            <a:schemeClr val="tx1"/>
                          </a:solidFill>
                        </a:rPr>
                        <a:t>-value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TW" b="1" dirty="0">
                          <a:solidFill>
                            <a:schemeClr val="tx1"/>
                          </a:solidFill>
                        </a:rPr>
                        <a:t>Hazard ratio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9482106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0.03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TW" dirty="0"/>
                        <a:t>1.01</a:t>
                      </a:r>
                      <a:endParaRPr lang="en-TW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34362436"/>
                  </a:ext>
                </a:extLst>
              </a:tr>
              <a:tr h="414337">
                <a:tc>
                  <a:txBody>
                    <a:bodyPr/>
                    <a:lstStyle/>
                    <a:p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Cirrhosis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0.23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1.16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11176713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Chemotherapy </a:t>
                      </a:r>
                      <a:r>
                        <a:rPr lang="en-US" sz="18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v.s</a:t>
                      </a:r>
                      <a:r>
                        <a:rPr lang="en-US" sz="18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Radiation</a:t>
                      </a:r>
                      <a:endParaRPr lang="en-TW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0.88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1.02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72380042"/>
                  </a:ext>
                </a:extLst>
              </a:tr>
              <a:tr h="431483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Surgery </a:t>
                      </a:r>
                      <a:r>
                        <a:rPr lang="en-US" sz="18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v.s</a:t>
                      </a:r>
                      <a:r>
                        <a:rPr lang="en-US" sz="18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Radiation</a:t>
                      </a:r>
                      <a:endParaRPr lang="en-TW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TW" dirty="0"/>
                        <a:t>0.84</a:t>
                      </a:r>
                      <a:endParaRPr lang="en-TW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1.03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97675652"/>
                  </a:ext>
                </a:extLst>
              </a:tr>
              <a:tr h="425767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Combined </a:t>
                      </a:r>
                      <a:r>
                        <a:rPr lang="en-US" sz="18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v.s</a:t>
                      </a:r>
                      <a:r>
                        <a:rPr lang="en-US" sz="18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Radiation</a:t>
                      </a:r>
                      <a:endParaRPr lang="en-TW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TW" dirty="0"/>
                        <a:t>0.13</a:t>
                      </a:r>
                      <a:endParaRPr lang="en-TW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0.79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69621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Hypertension</a:t>
                      </a:r>
                      <a:endParaRPr lang="en-TW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TW" dirty="0"/>
                        <a:t>&lt;0.01</a:t>
                      </a:r>
                      <a:endParaRPr lang="en-TW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Strong time-dependent effect</a:t>
                      </a:r>
                      <a:endParaRPr lang="en-TW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0842341"/>
                  </a:ext>
                </a:extLst>
              </a:tr>
            </a:tbl>
          </a:graphicData>
        </a:graphic>
      </p:graphicFrame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FE88B395-28EE-3E38-A6BC-444C4440EAC2}"/>
              </a:ext>
            </a:extLst>
          </p:cNvPr>
          <p:cNvSpPr txBox="1">
            <a:spLocks/>
          </p:cNvSpPr>
          <p:nvPr/>
        </p:nvSpPr>
        <p:spPr>
          <a:xfrm>
            <a:off x="838199" y="1825625"/>
            <a:ext cx="10348914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Calibri"/>
                <a:cs typeface="Calibri"/>
              </a:rPr>
              <a:t>This analysis was based on comparing patients within the same cancer stage.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ea typeface="Calibri"/>
              <a:cs typeface="Calibri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475AFD7-2A3E-7C57-6126-DA3501348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7E0-9398-4F46-BF66-1EA1B4374B88}" type="slidenum">
              <a:rPr lang="en-TW" smtClean="0"/>
              <a:t>9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899558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graph showing the number of patients with cancer&#10;&#10;Description automatically generated">
            <a:extLst>
              <a:ext uri="{FF2B5EF4-FFF2-40B4-BE49-F238E27FC236}">
                <a16:creationId xmlns:a16="http://schemas.microsoft.com/office/drawing/2014/main" id="{4C9755FD-18A5-AD2F-A01E-11BFF77FB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5829" y="1654159"/>
            <a:ext cx="6254778" cy="4694269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007AA08-4E22-D975-D6E4-1E95A1E75913}"/>
              </a:ext>
            </a:extLst>
          </p:cNvPr>
          <p:cNvSpPr txBox="1">
            <a:spLocks/>
          </p:cNvSpPr>
          <p:nvPr/>
        </p:nvSpPr>
        <p:spPr>
          <a:xfrm>
            <a:off x="838200" y="231625"/>
            <a:ext cx="10515600" cy="157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>
                <a:ea typeface="+mj-lt"/>
                <a:cs typeface="+mj-lt"/>
              </a:rPr>
              <a:t>Estimated Survival by Age</a:t>
            </a:r>
            <a:endParaRPr lang="en-TW" sz="4400" dirty="0"/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386C9E3B-9472-65BD-B795-B944AB8B63D3}"/>
              </a:ext>
            </a:extLst>
          </p:cNvPr>
          <p:cNvSpPr txBox="1">
            <a:spLocks/>
          </p:cNvSpPr>
          <p:nvPr/>
        </p:nvSpPr>
        <p:spPr>
          <a:xfrm>
            <a:off x="838199" y="1825625"/>
            <a:ext cx="4532587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Older patients are associated with a slightly higher risk.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Each additional year of age increases the risk by around 1.2%.</a:t>
            </a:r>
            <a:endParaRPr lang="en-US" sz="2800" dirty="0"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ea typeface="Calibri"/>
              <a:cs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AC128A-5DAB-2659-DFEC-4AE9581ED4A1}"/>
              </a:ext>
            </a:extLst>
          </p:cNvPr>
          <p:cNvSpPr txBox="1"/>
          <p:nvPr/>
        </p:nvSpPr>
        <p:spPr>
          <a:xfrm>
            <a:off x="5715218" y="701881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ea typeface="Calibri"/>
                <a:cs typeface="Calibri"/>
              </a:rPr>
              <a:t>(Fix age at 55, with no cirrhosis and Radiation treatment)</a:t>
            </a:r>
            <a:endParaRPr lang="en-TW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628098BD-34EC-7C65-58A7-7F62FC3B0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7E0-9398-4F46-BF66-1EA1B4374B88}" type="slidenum">
              <a:rPr lang="en-TW" smtClean="0"/>
              <a:t>10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496584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033A348-01E7-355F-2CCF-82F8395A9436}"/>
              </a:ext>
            </a:extLst>
          </p:cNvPr>
          <p:cNvSpPr txBox="1">
            <a:spLocks/>
          </p:cNvSpPr>
          <p:nvPr/>
        </p:nvSpPr>
        <p:spPr>
          <a:xfrm>
            <a:off x="838200" y="265884"/>
            <a:ext cx="10515600" cy="14853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ea typeface="+mj-lt"/>
                <a:cs typeface="+mj-lt"/>
              </a:rPr>
              <a:t>Estimated Survival by Treatment Type</a:t>
            </a:r>
            <a:endParaRPr lang="en-TW" dirty="0"/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13674071-17DE-A6C1-9DD5-D44BA2C8537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4805364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+mn-lt"/>
                <a:cs typeface="+mn-lt"/>
              </a:rPr>
              <a:t>After accounting for patient differences, survival is similar across treatments groups.</a:t>
            </a:r>
            <a:endParaRPr lang="en-US" dirty="0">
              <a:ea typeface="Calibri"/>
              <a:cs typeface="Calibri"/>
            </a:endParaRPr>
          </a:p>
        </p:txBody>
      </p:sp>
      <p:pic>
        <p:nvPicPr>
          <p:cNvPr id="18" name="Picture 17" descr="A graph showing the results of a survival test&#10;&#10;Description automatically generated">
            <a:extLst>
              <a:ext uri="{FF2B5EF4-FFF2-40B4-BE49-F238E27FC236}">
                <a16:creationId xmlns:a16="http://schemas.microsoft.com/office/drawing/2014/main" id="{E620813F-9A4D-0983-0731-7BDCD6CF0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3564" y="1661294"/>
            <a:ext cx="6210932" cy="468000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D1F20CD4-F2A1-B84F-8150-6FDC0E10F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7E0-9398-4F46-BF66-1EA1B4374B88}" type="slidenum">
              <a:rPr lang="en-TW" smtClean="0"/>
              <a:t>11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047960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a patient's survival&#10;&#10;Description automatically generated">
            <a:extLst>
              <a:ext uri="{FF2B5EF4-FFF2-40B4-BE49-F238E27FC236}">
                <a16:creationId xmlns:a16="http://schemas.microsoft.com/office/drawing/2014/main" id="{FDDE4C04-CC16-8293-69FB-9E68CEFDAA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2166" y="1661294"/>
            <a:ext cx="5889319" cy="4680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4437978-D993-5FF1-FD9B-A7E003F94D9D}"/>
              </a:ext>
            </a:extLst>
          </p:cNvPr>
          <p:cNvSpPr txBox="1">
            <a:spLocks/>
          </p:cNvSpPr>
          <p:nvPr/>
        </p:nvSpPr>
        <p:spPr>
          <a:xfrm>
            <a:off x="838200" y="508818"/>
            <a:ext cx="10527890" cy="993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ea typeface="+mj-lt"/>
                <a:cs typeface="+mj-lt"/>
              </a:rPr>
              <a:t>Estimated Survival by Hypertension Status</a:t>
            </a:r>
            <a:endParaRPr lang="en-TW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262A011-0183-F8D9-8D9A-035703AE2A1D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4805364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+mn-lt"/>
                <a:cs typeface="+mn-lt"/>
              </a:rPr>
              <a:t>Higher risk early on, weaker effect later</a:t>
            </a:r>
            <a:r>
              <a:rPr lang="en-US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dirty="0">
                <a:ea typeface="Calibri"/>
                <a:cs typeface="Calibri"/>
              </a:rPr>
              <a:t>Hypertension is strongly associated with survival</a:t>
            </a:r>
            <a:r>
              <a:rPr lang="en-US">
                <a:ea typeface="Calibri"/>
                <a:cs typeface="Calibri"/>
              </a:rPr>
              <a:t>.</a:t>
            </a: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7734FBD-5886-5E6F-955A-8FCB8496B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7E0-9398-4F46-BF66-1EA1B4374B88}" type="slidenum">
              <a:rPr lang="en-TW" smtClean="0"/>
              <a:t>12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856517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99F39-15D0-DFAB-0E67-CA382EDB2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94753"/>
            <a:ext cx="8713171" cy="1059426"/>
          </a:xfrm>
        </p:spPr>
        <p:txBody>
          <a:bodyPr>
            <a:normAutofit/>
          </a:bodyPr>
          <a:lstStyle/>
          <a:p>
            <a:r>
              <a:rPr lang="en-TW" sz="4400" dirty="0"/>
              <a:t>Estimated survival by </a:t>
            </a:r>
            <a:r>
              <a:rPr lang="en-US" sz="4400" dirty="0">
                <a:ea typeface="+mj-lt"/>
                <a:cs typeface="+mj-lt"/>
              </a:rPr>
              <a:t>Cirrhosis </a:t>
            </a:r>
            <a:endParaRPr lang="en-TW" sz="4400" dirty="0"/>
          </a:p>
        </p:txBody>
      </p:sp>
      <p:pic>
        <p:nvPicPr>
          <p:cNvPr id="4" name="Picture 3" descr="A graph of a patient's survival&#10;&#10;Description automatically generated">
            <a:extLst>
              <a:ext uri="{FF2B5EF4-FFF2-40B4-BE49-F238E27FC236}">
                <a16:creationId xmlns:a16="http://schemas.microsoft.com/office/drawing/2014/main" id="{5A19945E-35D7-4D4E-82EC-A41E94B5E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4878" y="1623194"/>
            <a:ext cx="6136656" cy="4680000"/>
          </a:xfrm>
          <a:prstGeom prst="rect">
            <a:avLst/>
          </a:prstGeom>
        </p:spPr>
      </p:pic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D1DEDE00-4EC1-A30E-62A8-F24810FD8E1E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4805364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Although patients with cirrhosis appeared to have higher risk, the evidence was weak.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EA3F4A-52C7-8E93-56F4-C80AED6AD6E2}"/>
              </a:ext>
            </a:extLst>
          </p:cNvPr>
          <p:cNvSpPr txBox="1"/>
          <p:nvPr/>
        </p:nvSpPr>
        <p:spPr>
          <a:xfrm>
            <a:off x="5798242" y="63031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ea typeface="Calibri"/>
                <a:cs typeface="Calibri"/>
              </a:rPr>
              <a:t>(Fix age at 55, with no cirrhosis and Radiation treatment)</a:t>
            </a:r>
            <a:endParaRPr lang="en-TW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EE247CB-5F3B-B6BB-32AC-6DEBB8291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7E0-9398-4F46-BF66-1EA1B4374B88}" type="slidenum">
              <a:rPr lang="en-TW" smtClean="0"/>
              <a:t>13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5039335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1CEB1-5F43-7C8D-5DDC-9247F22E6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1873"/>
            <a:ext cx="10515600" cy="1325563"/>
          </a:xfrm>
        </p:spPr>
        <p:txBody>
          <a:bodyPr/>
          <a:lstStyle/>
          <a:p>
            <a:r>
              <a:rPr lang="en-TW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E2724-ECC2-2434-36CA-1242B49D3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1600"/>
              </a:spcBef>
            </a:pPr>
            <a:r>
              <a:rPr lang="en-US" dirty="0">
                <a:ea typeface="+mn-lt"/>
                <a:cs typeface="+mn-lt"/>
              </a:rPr>
              <a:t>After accounting for patient characteristics and cancer stage, no strong evidence of meaningful survival differences between treatments was found.</a:t>
            </a:r>
            <a:endParaRPr lang="en-TW" dirty="0">
              <a:ea typeface="Calibri"/>
              <a:cs typeface="Calibri"/>
            </a:endParaRPr>
          </a:p>
          <a:p>
            <a:pPr>
              <a:spcBef>
                <a:spcPts val="1600"/>
              </a:spcBef>
            </a:pPr>
            <a:r>
              <a:rPr lang="en-US" dirty="0">
                <a:ea typeface="+mn-lt"/>
                <a:cs typeface="+mn-lt"/>
              </a:rPr>
              <a:t>Patient characteristics played a more key role in survival outcomes.</a:t>
            </a:r>
            <a:br>
              <a:rPr lang="en-US" dirty="0"/>
            </a:br>
            <a:r>
              <a:rPr lang="en-US" dirty="0">
                <a:ea typeface="+mn-lt"/>
                <a:cs typeface="+mn-lt"/>
              </a:rPr>
              <a:t>In particular:</a:t>
            </a:r>
            <a:endParaRPr lang="en-TW" dirty="0">
              <a:ea typeface="Calibri"/>
              <a:cs typeface="Calibri"/>
            </a:endParaRPr>
          </a:p>
          <a:p>
            <a:pPr lvl="1">
              <a:spcBef>
                <a:spcPts val="1600"/>
              </a:spcBef>
            </a:pPr>
            <a:r>
              <a:rPr lang="en-US" b="1" dirty="0">
                <a:ea typeface="+mn-lt"/>
                <a:cs typeface="+mn-lt"/>
              </a:rPr>
              <a:t>Age</a:t>
            </a:r>
            <a:r>
              <a:rPr lang="en-US" dirty="0">
                <a:ea typeface="+mn-lt"/>
                <a:cs typeface="+mn-lt"/>
              </a:rPr>
              <a:t> was associated with higher risk.</a:t>
            </a:r>
            <a:endParaRPr lang="en-TW" dirty="0">
              <a:ea typeface="Calibri"/>
              <a:cs typeface="Calibri"/>
            </a:endParaRPr>
          </a:p>
          <a:p>
            <a:pPr lvl="1">
              <a:spcBef>
                <a:spcPts val="1600"/>
              </a:spcBef>
            </a:pPr>
            <a:r>
              <a:rPr lang="en-US" b="1" dirty="0">
                <a:ea typeface="+mn-lt"/>
                <a:cs typeface="+mn-lt"/>
              </a:rPr>
              <a:t>High blood pressure</a:t>
            </a:r>
            <a:r>
              <a:rPr lang="en-US" dirty="0">
                <a:ea typeface="+mn-lt"/>
                <a:cs typeface="+mn-lt"/>
              </a:rPr>
              <a:t> showed a clear effect that changed over time.</a:t>
            </a:r>
            <a:endParaRPr lang="en-TW" dirty="0">
              <a:ea typeface="Calibri"/>
              <a:cs typeface="Calibri"/>
            </a:endParaRPr>
          </a:p>
          <a:p>
            <a:pPr>
              <a:spcBef>
                <a:spcPts val="1600"/>
              </a:spcBef>
            </a:pPr>
            <a:endParaRPr lang="en-TW" sz="2400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B76F94-1FAE-7BAE-4B9C-2767FC515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7E0-9398-4F46-BF66-1EA1B4374B88}" type="slidenum">
              <a:rPr lang="en-TW" smtClean="0"/>
              <a:t>14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3321375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1CEB1-5F43-7C8D-5DDC-9247F22E6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Appendix- Arjas Plot</a:t>
            </a:r>
          </a:p>
        </p:txBody>
      </p:sp>
      <p:pic>
        <p:nvPicPr>
          <p:cNvPr id="7" name="Content Placeholder 6" descr="A graph of a number of events&#10;&#10;Description automatically generated">
            <a:extLst>
              <a:ext uri="{FF2B5EF4-FFF2-40B4-BE49-F238E27FC236}">
                <a16:creationId xmlns:a16="http://schemas.microsoft.com/office/drawing/2014/main" id="{41CC284E-45FF-35C3-A20C-0EB75FB275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3978" y="2133292"/>
            <a:ext cx="5413296" cy="4105532"/>
          </a:xfrm>
        </p:spPr>
      </p:pic>
      <p:pic>
        <p:nvPicPr>
          <p:cNvPr id="9" name="Picture 8" descr="A graph of a number of events&#10;&#10;Description automatically generated">
            <a:extLst>
              <a:ext uri="{FF2B5EF4-FFF2-40B4-BE49-F238E27FC236}">
                <a16:creationId xmlns:a16="http://schemas.microsoft.com/office/drawing/2014/main" id="{06BD01A7-6C19-E55B-DC7B-6F3BB4C35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3374" y="2132874"/>
            <a:ext cx="5456826" cy="4111123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F0655E9-9777-C769-ACF6-554B9C56F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7E0-9398-4F46-BF66-1EA1B4374B88}" type="slidenum">
              <a:rPr lang="en-TW" smtClean="0"/>
              <a:t>15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41384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1059</Words>
  <Application>Microsoft Macintosh PowerPoint</Application>
  <PresentationFormat>Widescreen</PresentationFormat>
  <Paragraphs>137</Paragraphs>
  <Slides>15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Survival Analysis of Lung Cancer Patients in Sweden  Group 11: Liang-Jen Huang, Hadeel Elhassan Department of Statistics, Uppsala University </vt:lpstr>
      <vt:lpstr>Introduction</vt:lpstr>
      <vt:lpstr>Data Description</vt:lpstr>
      <vt:lpstr>Data Description</vt:lpstr>
      <vt:lpstr>Survival Curves by Treatment Type</vt:lpstr>
      <vt:lpstr>Survival Curves by Patient Characteristics</vt:lpstr>
      <vt:lpstr>Survival Curves by Patient Characteristics</vt:lpstr>
      <vt:lpstr>Descriptive Analysis of Patient Characteristics</vt:lpstr>
      <vt:lpstr>Analysis Result</vt:lpstr>
      <vt:lpstr>PowerPoint Presentation</vt:lpstr>
      <vt:lpstr>PowerPoint Presentation</vt:lpstr>
      <vt:lpstr>PowerPoint Presentation</vt:lpstr>
      <vt:lpstr>Estimated survival by Cirrhosis </vt:lpstr>
      <vt:lpstr>Conclusion</vt:lpstr>
      <vt:lpstr>Appendix- Arjas Plot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黃亮臻 HUANG, LIANG-JEN</dc:creator>
  <cp:lastModifiedBy>黃亮臻</cp:lastModifiedBy>
  <cp:revision>1</cp:revision>
  <dcterms:created xsi:type="dcterms:W3CDTF">2025-12-16T20:16:45Z</dcterms:created>
  <dcterms:modified xsi:type="dcterms:W3CDTF">2025-12-18T02:40:52Z</dcterms:modified>
</cp:coreProperties>
</file>